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58" r:id="rId5"/>
    <p:sldId id="260" r:id="rId6"/>
    <p:sldId id="261" r:id="rId7"/>
    <p:sldId id="263" r:id="rId8"/>
    <p:sldId id="264" r:id="rId9"/>
    <p:sldId id="265" r:id="rId10"/>
    <p:sldId id="267" r:id="rId11"/>
    <p:sldId id="268"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2/2/2026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2/2/2026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2/2/2026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2/2/2026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2/2/2026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2/2/2026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2/2/2026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2/2/2026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2/2/2026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2/2/2026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2/2/2026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2/2/2026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3F63-7775-B3DB-EA61-8EB471C437D5}"/>
              </a:ext>
            </a:extLst>
          </p:cNvPr>
          <p:cNvSpPr>
            <a:spLocks noGrp="1"/>
          </p:cNvSpPr>
          <p:nvPr>
            <p:ph type="ctrTitle"/>
          </p:nvPr>
        </p:nvSpPr>
        <p:spPr>
          <a:xfrm>
            <a:off x="1111044" y="2278612"/>
            <a:ext cx="7787154" cy="2268559"/>
          </a:xfrm>
        </p:spPr>
        <p:txBody>
          <a:bodyPr>
            <a:noAutofit/>
          </a:bodyPr>
          <a:lstStyle/>
          <a:p>
            <a:pPr algn="ctr"/>
            <a:r>
              <a:rPr lang="en-IN" sz="3200" b="1" u="sng" dirty="0"/>
              <a:t>MINOR PROJECT-II PRESENTATION ON-MENTAL STRESS DETECTION USING VOICE TONE ANALYSIS</a:t>
            </a:r>
          </a:p>
        </p:txBody>
      </p:sp>
      <p:sp>
        <p:nvSpPr>
          <p:cNvPr id="3" name="Subtitle 2">
            <a:extLst>
              <a:ext uri="{FF2B5EF4-FFF2-40B4-BE49-F238E27FC236}">
                <a16:creationId xmlns:a16="http://schemas.microsoft.com/office/drawing/2014/main" id="{16CD5961-7B0C-AD68-DB8E-50B5FA8D1CFE}"/>
              </a:ext>
            </a:extLst>
          </p:cNvPr>
          <p:cNvSpPr>
            <a:spLocks noGrp="1"/>
          </p:cNvSpPr>
          <p:nvPr>
            <p:ph type="subTitle" idx="1"/>
          </p:nvPr>
        </p:nvSpPr>
        <p:spPr>
          <a:xfrm>
            <a:off x="2389245" y="361327"/>
            <a:ext cx="6508953" cy="1160213"/>
          </a:xfrm>
        </p:spPr>
        <p:txBody>
          <a:bodyPr>
            <a:noAutofit/>
          </a:bodyPr>
          <a:lstStyle/>
          <a:p>
            <a:pPr algn="ctr"/>
            <a:r>
              <a:rPr lang="en-US" sz="2400" b="1" u="sng" dirty="0"/>
              <a:t>GANDHI INSTITUTE OF ENGINEERING &amp; TECHNOLOGY UNIVERSITY,GUNUPUR,ODISHA</a:t>
            </a:r>
            <a:endParaRPr lang="en-IN" sz="2400" b="1" u="sng" dirty="0"/>
          </a:p>
        </p:txBody>
      </p:sp>
      <p:sp>
        <p:nvSpPr>
          <p:cNvPr id="4" name="Rectangle: Rounded Corners 3">
            <a:extLst>
              <a:ext uri="{FF2B5EF4-FFF2-40B4-BE49-F238E27FC236}">
                <a16:creationId xmlns:a16="http://schemas.microsoft.com/office/drawing/2014/main" id="{E2A38074-11D4-F1C7-69BD-2A77E5815053}"/>
              </a:ext>
            </a:extLst>
          </p:cNvPr>
          <p:cNvSpPr/>
          <p:nvPr/>
        </p:nvSpPr>
        <p:spPr>
          <a:xfrm>
            <a:off x="1111044" y="108151"/>
            <a:ext cx="1641988" cy="1455174"/>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E9884D4-87D8-A9BB-5F0C-44352B0CAB80}"/>
              </a:ext>
            </a:extLst>
          </p:cNvPr>
          <p:cNvSpPr txBox="1"/>
          <p:nvPr/>
        </p:nvSpPr>
        <p:spPr>
          <a:xfrm>
            <a:off x="1130708" y="3804686"/>
            <a:ext cx="7787153" cy="1200329"/>
          </a:xfrm>
          <a:prstGeom prst="rect">
            <a:avLst/>
          </a:prstGeom>
          <a:noFill/>
        </p:spPr>
        <p:txBody>
          <a:bodyPr wrap="square">
            <a:spAutoFit/>
          </a:bodyPr>
          <a:lstStyle/>
          <a:p>
            <a:r>
              <a:rPr lang="en-US" sz="1800" b="1" dirty="0"/>
              <a:t>Presented By:</a:t>
            </a:r>
          </a:p>
          <a:p>
            <a:r>
              <a:rPr lang="en-US" sz="1800" b="1" dirty="0"/>
              <a:t>23UG010665-23CSE586-JAYA PRAKASH SAHOO</a:t>
            </a:r>
          </a:p>
          <a:p>
            <a:r>
              <a:rPr lang="en-IN" sz="1800" b="1" dirty="0"/>
              <a:t>23UG010626-23CSE543-P.ROHIT KUMAR SUBUDHI</a:t>
            </a:r>
          </a:p>
          <a:p>
            <a:r>
              <a:rPr lang="en-IN" sz="1800" b="1" dirty="0"/>
              <a:t>23UG010692-23CSE615-PIYUSH KUMAR TRIPATHY</a:t>
            </a:r>
          </a:p>
        </p:txBody>
      </p:sp>
      <p:sp>
        <p:nvSpPr>
          <p:cNvPr id="8" name="TextBox 7">
            <a:extLst>
              <a:ext uri="{FF2B5EF4-FFF2-40B4-BE49-F238E27FC236}">
                <a16:creationId xmlns:a16="http://schemas.microsoft.com/office/drawing/2014/main" id="{C2569FF5-3ACF-5C14-D7DE-64E919E6E64F}"/>
              </a:ext>
            </a:extLst>
          </p:cNvPr>
          <p:cNvSpPr txBox="1"/>
          <p:nvPr/>
        </p:nvSpPr>
        <p:spPr>
          <a:xfrm>
            <a:off x="4188544" y="5495843"/>
            <a:ext cx="6096000" cy="1200329"/>
          </a:xfrm>
          <a:prstGeom prst="rect">
            <a:avLst/>
          </a:prstGeom>
          <a:noFill/>
        </p:spPr>
        <p:txBody>
          <a:bodyPr wrap="square">
            <a:spAutoFit/>
          </a:bodyPr>
          <a:lstStyle/>
          <a:p>
            <a:pPr algn="ctr"/>
            <a:r>
              <a:rPr lang="en-US" b="1" dirty="0">
                <a:solidFill>
                  <a:schemeClr val="accent5"/>
                </a:solidFill>
              </a:rPr>
              <a:t>Under the Guidance of</a:t>
            </a:r>
          </a:p>
          <a:p>
            <a:pPr algn="ctr"/>
            <a:r>
              <a:rPr lang="en-US" b="1" dirty="0">
                <a:solidFill>
                  <a:schemeClr val="accent5"/>
                </a:solidFill>
              </a:rPr>
              <a:t>Mrs. Geetanjali Panda </a:t>
            </a:r>
          </a:p>
          <a:p>
            <a:pPr algn="ctr"/>
            <a:r>
              <a:rPr lang="en-US" b="1" dirty="0">
                <a:solidFill>
                  <a:schemeClr val="accent5"/>
                </a:solidFill>
              </a:rPr>
              <a:t>Dept. of CSE</a:t>
            </a:r>
          </a:p>
          <a:p>
            <a:pPr algn="ctr"/>
            <a:r>
              <a:rPr lang="en-US" b="1" dirty="0">
                <a:solidFill>
                  <a:schemeClr val="accent5"/>
                </a:solidFill>
              </a:rPr>
              <a:t>GIET University , </a:t>
            </a:r>
            <a:r>
              <a:rPr lang="en-US" b="1" dirty="0" err="1">
                <a:solidFill>
                  <a:schemeClr val="accent5"/>
                </a:solidFill>
              </a:rPr>
              <a:t>Gunupur</a:t>
            </a:r>
            <a:endParaRPr lang="en-IN" b="1" dirty="0">
              <a:solidFill>
                <a:schemeClr val="accent5"/>
              </a:solidFill>
            </a:endParaRPr>
          </a:p>
        </p:txBody>
      </p:sp>
    </p:spTree>
    <p:extLst>
      <p:ext uri="{BB962C8B-B14F-4D97-AF65-F5344CB8AC3E}">
        <p14:creationId xmlns:p14="http://schemas.microsoft.com/office/powerpoint/2010/main" val="2296940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9179A-4A73-30DC-39E7-7E2F8BFBE11D}"/>
              </a:ext>
            </a:extLst>
          </p:cNvPr>
          <p:cNvSpPr>
            <a:spLocks noGrp="1"/>
          </p:cNvSpPr>
          <p:nvPr>
            <p:ph type="title"/>
          </p:nvPr>
        </p:nvSpPr>
        <p:spPr>
          <a:xfrm>
            <a:off x="1146800" y="336102"/>
            <a:ext cx="7958331" cy="1077229"/>
          </a:xfrm>
        </p:spPr>
        <p:txBody>
          <a:bodyPr>
            <a:normAutofit/>
          </a:bodyPr>
          <a:lstStyle/>
          <a:p>
            <a:pPr algn="l"/>
            <a:r>
              <a:rPr lang="en-IN" sz="4500" b="1" u="sng" dirty="0"/>
              <a:t>Contents:-</a:t>
            </a:r>
          </a:p>
        </p:txBody>
      </p:sp>
      <p:sp>
        <p:nvSpPr>
          <p:cNvPr id="3" name="TextBox 2">
            <a:extLst>
              <a:ext uri="{FF2B5EF4-FFF2-40B4-BE49-F238E27FC236}">
                <a16:creationId xmlns:a16="http://schemas.microsoft.com/office/drawing/2014/main" id="{6CCC2075-4A7F-4D75-4046-020B1E0CFD22}"/>
              </a:ext>
            </a:extLst>
          </p:cNvPr>
          <p:cNvSpPr txBox="1"/>
          <p:nvPr/>
        </p:nvSpPr>
        <p:spPr>
          <a:xfrm>
            <a:off x="993051" y="1157740"/>
            <a:ext cx="5771542" cy="5632311"/>
          </a:xfrm>
          <a:prstGeom prst="rect">
            <a:avLst/>
          </a:prstGeom>
          <a:noFill/>
        </p:spPr>
        <p:txBody>
          <a:bodyPr wrap="square" rtlCol="0">
            <a:spAutoFit/>
          </a:bodyPr>
          <a:lstStyle/>
          <a:p>
            <a:r>
              <a:rPr lang="en-IN" sz="2900" dirty="0"/>
              <a:t>1. Problem Statement</a:t>
            </a:r>
          </a:p>
          <a:p>
            <a:r>
              <a:rPr lang="en-IN" sz="2900" dirty="0"/>
              <a:t>2. Introduction</a:t>
            </a:r>
          </a:p>
          <a:p>
            <a:r>
              <a:rPr lang="en-IN" sz="2900" dirty="0"/>
              <a:t>3. Technology Used</a:t>
            </a:r>
          </a:p>
          <a:p>
            <a:r>
              <a:rPr lang="en-IN" sz="2900" dirty="0"/>
              <a:t>4. Features</a:t>
            </a:r>
          </a:p>
          <a:p>
            <a:r>
              <a:rPr lang="en-IN" sz="2900" dirty="0"/>
              <a:t>5. Machine Learning Approach</a:t>
            </a:r>
          </a:p>
          <a:p>
            <a:r>
              <a:rPr lang="en-IN" sz="2900" dirty="0"/>
              <a:t>6. Diagrams</a:t>
            </a:r>
          </a:p>
          <a:p>
            <a:r>
              <a:rPr lang="en-IN" sz="2900" dirty="0"/>
              <a:t>7. Model Evaluation &amp; Metrices</a:t>
            </a:r>
          </a:p>
          <a:p>
            <a:r>
              <a:rPr lang="en-IN" sz="2900" dirty="0"/>
              <a:t>8. Future Enhancement</a:t>
            </a:r>
          </a:p>
          <a:p>
            <a:r>
              <a:rPr lang="en-IN" sz="2900" dirty="0"/>
              <a:t>9.Limitations</a:t>
            </a:r>
          </a:p>
          <a:p>
            <a:r>
              <a:rPr lang="en-IN" sz="2900" dirty="0"/>
              <a:t>10.Conclusion</a:t>
            </a:r>
          </a:p>
          <a:p>
            <a:r>
              <a:rPr lang="en-IN" sz="2900" dirty="0"/>
              <a:t>11.References</a:t>
            </a:r>
          </a:p>
          <a:p>
            <a:endParaRPr lang="en-IN" sz="2900" dirty="0"/>
          </a:p>
        </p:txBody>
      </p:sp>
      <p:sp>
        <p:nvSpPr>
          <p:cNvPr id="4" name="Rectangle: Rounded Corners 3">
            <a:extLst>
              <a:ext uri="{FF2B5EF4-FFF2-40B4-BE49-F238E27FC236}">
                <a16:creationId xmlns:a16="http://schemas.microsoft.com/office/drawing/2014/main" id="{887030FB-5FED-C8DC-2823-3BE9EDE72487}"/>
              </a:ext>
            </a:extLst>
          </p:cNvPr>
          <p:cNvSpPr/>
          <p:nvPr/>
        </p:nvSpPr>
        <p:spPr>
          <a:xfrm>
            <a:off x="6292646" y="1157740"/>
            <a:ext cx="5004619" cy="4830105"/>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96109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7E8D-B759-2C37-068D-E4DF83F9F53B}"/>
              </a:ext>
            </a:extLst>
          </p:cNvPr>
          <p:cNvSpPr>
            <a:spLocks noGrp="1"/>
          </p:cNvSpPr>
          <p:nvPr>
            <p:ph type="title"/>
          </p:nvPr>
        </p:nvSpPr>
        <p:spPr>
          <a:xfrm>
            <a:off x="458543" y="345940"/>
            <a:ext cx="7958331" cy="1077229"/>
          </a:xfrm>
        </p:spPr>
        <p:txBody>
          <a:bodyPr>
            <a:normAutofit/>
          </a:bodyPr>
          <a:lstStyle/>
          <a:p>
            <a:r>
              <a:rPr lang="en-IN" sz="4500" b="1" u="sng" dirty="0"/>
              <a:t>1.PROBLEM STATEMENT</a:t>
            </a:r>
          </a:p>
        </p:txBody>
      </p:sp>
      <p:sp>
        <p:nvSpPr>
          <p:cNvPr id="4" name="Rectangle 1">
            <a:extLst>
              <a:ext uri="{FF2B5EF4-FFF2-40B4-BE49-F238E27FC236}">
                <a16:creationId xmlns:a16="http://schemas.microsoft.com/office/drawing/2014/main" id="{07EBCFED-A54D-246F-44AE-B34D009F65BF}"/>
              </a:ext>
            </a:extLst>
          </p:cNvPr>
          <p:cNvSpPr>
            <a:spLocks noChangeArrowheads="1"/>
          </p:cNvSpPr>
          <p:nvPr/>
        </p:nvSpPr>
        <p:spPr bwMode="auto">
          <a:xfrm>
            <a:off x="1160206" y="1112997"/>
            <a:ext cx="970206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b="1" u="sng" dirty="0">
                <a:latin typeface="Arial" panose="020B0604020202020204" pitchFamily="34" charset="0"/>
              </a:rPr>
              <a:t>Measurement Error</a:t>
            </a:r>
            <a:r>
              <a:rPr kumimoji="0" lang="en-US" altLang="en-US" sz="1800" b="1" i="0" u="sng" strike="noStrike" cap="none" normalizeH="0" baseline="0" dirty="0">
                <a:ln>
                  <a:noFill/>
                </a:ln>
                <a:solidFill>
                  <a:schemeClr val="tx1"/>
                </a:solidFill>
                <a:effectLst/>
                <a:latin typeface="Arial" panose="020B0604020202020204" pitchFamily="34" charset="0"/>
              </a:rPr>
              <a:t>:</a:t>
            </a:r>
            <a:r>
              <a:rPr kumimoji="0" lang="en-US" altLang="en-US" sz="1800" i="0" u="none" strike="noStrike" cap="none" normalizeH="0" baseline="0" dirty="0">
                <a:ln>
                  <a:noFill/>
                </a:ln>
                <a:solidFill>
                  <a:schemeClr val="tx1"/>
                </a:solidFill>
                <a:effectLst/>
                <a:latin typeface="Arial" panose="020B0604020202020204" pitchFamily="34" charset="0"/>
              </a:rPr>
              <a:t> Current stress tests rely on personal surveys, which are often inaccurate because of human bias or social stigma.</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No Long-Term Tracking</a:t>
            </a:r>
            <a:r>
              <a:rPr kumimoji="0" lang="en-US" altLang="en-US" sz="1800" i="0" u="none" strike="noStrike" cap="none" normalizeH="0" baseline="0" dirty="0">
                <a:ln>
                  <a:noFill/>
                </a:ln>
                <a:solidFill>
                  <a:schemeClr val="tx1"/>
                </a:solidFill>
                <a:effectLst/>
                <a:latin typeface="Arial" panose="020B0604020202020204" pitchFamily="34" charset="0"/>
              </a:rPr>
              <a:t>: Most clinical evaluations only happen once and fail to monitor how stress levels change throughout daily life.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b="1" u="sng" dirty="0">
                <a:latin typeface="Arial" panose="020B0604020202020204" pitchFamily="34" charset="0"/>
              </a:rPr>
              <a:t>Cost Effectiveness</a:t>
            </a:r>
            <a:r>
              <a:rPr kumimoji="0" lang="en-US" altLang="en-US" sz="1800" i="0" u="none" strike="noStrike" cap="none" normalizeH="0" baseline="0" dirty="0">
                <a:ln>
                  <a:noFill/>
                </a:ln>
                <a:solidFill>
                  <a:schemeClr val="tx1"/>
                </a:solidFill>
                <a:effectLst/>
                <a:latin typeface="Arial" panose="020B0604020202020204" pitchFamily="34" charset="0"/>
              </a:rPr>
              <a:t>: Professional mental health consultations are often too expensive and time-consuming for the general public to access easily.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Invisible Signs of Stress</a:t>
            </a:r>
            <a:r>
              <a:rPr kumimoji="0" lang="en-US" altLang="en-US" sz="1800" i="0" u="none" strike="noStrike" cap="none" normalizeH="0" baseline="0" dirty="0">
                <a:ln>
                  <a:noFill/>
                </a:ln>
                <a:solidFill>
                  <a:schemeClr val="tx1"/>
                </a:solidFill>
                <a:effectLst/>
                <a:latin typeface="Arial" panose="020B0604020202020204" pitchFamily="34" charset="0"/>
              </a:rPr>
              <a:t>: Stress causes tiny changes in vocal cords and breathing that are impossible for the human ear to detect without help.</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More Waiting Time</a:t>
            </a:r>
            <a:r>
              <a:rPr kumimoji="0" lang="en-US" altLang="en-US" sz="1800" i="0" u="none" strike="noStrike" cap="none" normalizeH="0" baseline="0" dirty="0">
                <a:ln>
                  <a:noFill/>
                </a:ln>
                <a:solidFill>
                  <a:schemeClr val="tx1"/>
                </a:solidFill>
                <a:effectLst/>
                <a:latin typeface="Arial" panose="020B0604020202020204" pitchFamily="34" charset="0"/>
              </a:rPr>
              <a:t>: Without a way to detect stress in real-time, people often only seek help after they have already reached burnout or depression.</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Inappropriate Testing</a:t>
            </a:r>
            <a:r>
              <a:rPr kumimoji="0" lang="en-US" altLang="en-US" sz="1800" i="0" u="none" strike="noStrike" cap="none" normalizeH="0" baseline="0" dirty="0">
                <a:ln>
                  <a:noFill/>
                </a:ln>
                <a:solidFill>
                  <a:schemeClr val="tx1"/>
                </a:solidFill>
                <a:effectLst/>
                <a:latin typeface="Arial" panose="020B0604020202020204" pitchFamily="34" charset="0"/>
              </a:rPr>
              <a:t>: Many existing objective medical tests are invasive and inconvenient for people who want to track their stress frequently.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Lack of Digital Tools</a:t>
            </a:r>
            <a:r>
              <a:rPr kumimoji="0" lang="en-US" altLang="en-US" sz="1800" i="0" u="none" strike="noStrike" cap="none" normalizeH="0" baseline="0" dirty="0">
                <a:ln>
                  <a:noFill/>
                </a:ln>
                <a:solidFill>
                  <a:schemeClr val="tx1"/>
                </a:solidFill>
                <a:effectLst/>
                <a:latin typeface="Arial" panose="020B0604020202020204" pitchFamily="34" charset="0"/>
              </a:rPr>
              <a:t>: There is a major shortage of automated, non-invasive digital tools that can give immediate, data-driven feedback on a person's well-being.</a:t>
            </a:r>
          </a:p>
        </p:txBody>
      </p:sp>
    </p:spTree>
    <p:extLst>
      <p:ext uri="{BB962C8B-B14F-4D97-AF65-F5344CB8AC3E}">
        <p14:creationId xmlns:p14="http://schemas.microsoft.com/office/powerpoint/2010/main" val="1927429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17E17-5174-431A-7D23-C839ADB2FDAE}"/>
              </a:ext>
            </a:extLst>
          </p:cNvPr>
          <p:cNvSpPr>
            <a:spLocks noGrp="1"/>
          </p:cNvSpPr>
          <p:nvPr>
            <p:ph type="title"/>
          </p:nvPr>
        </p:nvSpPr>
        <p:spPr>
          <a:xfrm>
            <a:off x="1077974" y="483592"/>
            <a:ext cx="7958331" cy="1077229"/>
          </a:xfrm>
        </p:spPr>
        <p:txBody>
          <a:bodyPr>
            <a:normAutofit/>
          </a:bodyPr>
          <a:lstStyle/>
          <a:p>
            <a:pPr algn="l"/>
            <a:r>
              <a:rPr lang="en-IN" sz="4500" b="1" u="sng" dirty="0"/>
              <a:t>2.INTRODUCTION</a:t>
            </a:r>
          </a:p>
        </p:txBody>
      </p:sp>
      <p:sp>
        <p:nvSpPr>
          <p:cNvPr id="3" name="Rectangle 1">
            <a:extLst>
              <a:ext uri="{FF2B5EF4-FFF2-40B4-BE49-F238E27FC236}">
                <a16:creationId xmlns:a16="http://schemas.microsoft.com/office/drawing/2014/main" id="{64EF2AD6-B59B-C336-E5C1-6EDD682664E6}"/>
              </a:ext>
            </a:extLst>
          </p:cNvPr>
          <p:cNvSpPr>
            <a:spLocks noChangeArrowheads="1"/>
          </p:cNvSpPr>
          <p:nvPr/>
        </p:nvSpPr>
        <p:spPr bwMode="auto">
          <a:xfrm>
            <a:off x="1077974" y="1229443"/>
            <a:ext cx="10036052"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700" b="1" i="0" u="sng" strike="noStrike" cap="none" normalizeH="0" baseline="0" dirty="0">
                <a:ln>
                  <a:noFill/>
                </a:ln>
                <a:solidFill>
                  <a:schemeClr val="tx1"/>
                </a:solidFill>
                <a:effectLst/>
                <a:latin typeface="Arial" panose="020B0604020202020204" pitchFamily="34" charset="0"/>
              </a:rPr>
              <a:t>Project Overview:</a:t>
            </a:r>
            <a:r>
              <a:rPr kumimoji="0" lang="en-US" altLang="en-US" sz="1700" b="1" i="0" strike="noStrike" cap="none" normalizeH="0" baseline="0" dirty="0">
                <a:ln>
                  <a:noFill/>
                </a:ln>
                <a:solidFill>
                  <a:schemeClr val="tx1"/>
                </a:solidFill>
                <a:effectLst/>
                <a:latin typeface="Arial" panose="020B0604020202020204" pitchFamily="34" charset="0"/>
              </a:rPr>
              <a:t> </a:t>
            </a:r>
            <a:r>
              <a:rPr kumimoji="0" lang="en-US" altLang="en-US" sz="1700" i="0" u="none" strike="noStrike" cap="none" normalizeH="0" baseline="0" dirty="0">
                <a:ln>
                  <a:noFill/>
                </a:ln>
                <a:solidFill>
                  <a:schemeClr val="tx1"/>
                </a:solidFill>
                <a:effectLst/>
                <a:latin typeface="Arial" panose="020B0604020202020204" pitchFamily="34" charset="0"/>
              </a:rPr>
              <a:t>This project, "Mental Stress Detection Using Voice Tone Analysis," is an AI-powered system designed to monitor and analyze psychological well-being through vocal patterns.</a:t>
            </a:r>
          </a:p>
          <a:p>
            <a:pPr marL="285750" indent="-285750" algn="just">
              <a:buFont typeface="Wingdings" panose="05000000000000000000" pitchFamily="2" charset="2"/>
              <a:buChar char="§"/>
            </a:pPr>
            <a:r>
              <a:rPr lang="en-US" sz="1700" b="1" dirty="0"/>
              <a:t>Science of Voice</a:t>
            </a:r>
          </a:p>
          <a:p>
            <a:pPr marL="285750" indent="-285750" algn="just">
              <a:buFont typeface="Wingdings" panose="05000000000000000000" pitchFamily="2" charset="2"/>
              <a:buChar char="§"/>
            </a:pPr>
            <a:r>
              <a:rPr lang="en-US" sz="1700" dirty="0"/>
              <a:t>Stress causes automatic changes in the human body. It affects breathing patterns and increases tension in the vocal cords. These changes create variations in voice, which can be captured and analyzed using digital audio recordings.</a:t>
            </a:r>
          </a:p>
          <a:p>
            <a:pPr marL="285750" indent="-285750" algn="just">
              <a:buFont typeface="Wingdings" panose="05000000000000000000" pitchFamily="2" charset="2"/>
              <a:buChar char="§"/>
            </a:pPr>
            <a:r>
              <a:rPr lang="en-US" sz="1700" b="1" dirty="0"/>
              <a:t>Objective Analysis</a:t>
            </a:r>
          </a:p>
          <a:p>
            <a:pPr marL="285750" indent="-285750" algn="just">
              <a:buFont typeface="Wingdings" panose="05000000000000000000" pitchFamily="2" charset="2"/>
              <a:buChar char="§"/>
            </a:pPr>
            <a:r>
              <a:rPr lang="en-US" sz="1700" dirty="0"/>
              <a:t>Traditional mental health tests depend on personal feelings and opinions. This system uses voice data to measure stress levels objectively, making the analysis more accurate and reliable.</a:t>
            </a:r>
          </a:p>
          <a:p>
            <a:pPr marL="285750" indent="-285750" algn="just">
              <a:buFont typeface="Wingdings" panose="05000000000000000000" pitchFamily="2" charset="2"/>
              <a:buChar char="§"/>
            </a:pPr>
            <a:r>
              <a:rPr lang="en-US" sz="1700" b="1" dirty="0"/>
              <a:t>Real-Time Feedback</a:t>
            </a:r>
          </a:p>
          <a:p>
            <a:pPr marL="285750" indent="-285750" algn="just">
              <a:buFont typeface="Wingdings" panose="05000000000000000000" pitchFamily="2" charset="2"/>
              <a:buChar char="§"/>
            </a:pPr>
            <a:r>
              <a:rPr lang="en-US" sz="1700" dirty="0"/>
              <a:t>The application analyzes voice samples instantly. It displays the user’s stress level as Low, Moderate, or High and provides emotional insights through a personalized dashboard.</a:t>
            </a:r>
          </a:p>
          <a:p>
            <a:pPr marL="285750" indent="-285750" algn="just">
              <a:buFont typeface="Wingdings" panose="05000000000000000000" pitchFamily="2" charset="2"/>
              <a:buChar char="§"/>
            </a:pPr>
            <a:r>
              <a:rPr lang="en-US" sz="1700" b="1" dirty="0"/>
              <a:t>User-Centric Design</a:t>
            </a:r>
          </a:p>
          <a:p>
            <a:pPr marL="285750" indent="-285750" algn="just">
              <a:buFont typeface="Wingdings" panose="05000000000000000000" pitchFamily="2" charset="2"/>
              <a:buChar char="§"/>
            </a:pPr>
            <a:r>
              <a:rPr lang="en-US" sz="1700" dirty="0"/>
              <a:t>The application has a simple and modern web interface. Users can easily record their voice, view previous stress records, and receive helpful mental wellness tips.</a:t>
            </a:r>
          </a:p>
          <a:p>
            <a:pPr marL="285750" indent="-285750" algn="just">
              <a:buFont typeface="Wingdings" panose="05000000000000000000" pitchFamily="2" charset="2"/>
              <a:buChar char="§"/>
            </a:pPr>
            <a:r>
              <a:rPr lang="en-US" sz="1700" b="1" dirty="0"/>
              <a:t>Aim &amp; Purpose</a:t>
            </a:r>
          </a:p>
          <a:p>
            <a:pPr marL="285750" indent="-285750" algn="just">
              <a:buFont typeface="Wingdings" panose="05000000000000000000" pitchFamily="2" charset="2"/>
              <a:buChar char="§"/>
            </a:pPr>
            <a:r>
              <a:rPr lang="en-US" sz="1700" dirty="0"/>
              <a:t>The aim of this project is to support mental healthcare using technology. It helps in early stress detection and improves emotional awareness in a scalable and user-friendly way.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7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448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0FBB2-3F95-C378-CD03-D593E47E5DDB}"/>
              </a:ext>
            </a:extLst>
          </p:cNvPr>
          <p:cNvSpPr>
            <a:spLocks noGrp="1"/>
          </p:cNvSpPr>
          <p:nvPr>
            <p:ph type="title"/>
          </p:nvPr>
        </p:nvSpPr>
        <p:spPr>
          <a:xfrm>
            <a:off x="1068139" y="463926"/>
            <a:ext cx="7958331" cy="1077229"/>
          </a:xfrm>
        </p:spPr>
        <p:txBody>
          <a:bodyPr>
            <a:normAutofit/>
          </a:bodyPr>
          <a:lstStyle/>
          <a:p>
            <a:pPr algn="l"/>
            <a:r>
              <a:rPr lang="en-IN" sz="4500" b="1" u="sng" dirty="0"/>
              <a:t>3.TECHNOLOGY USED</a:t>
            </a:r>
          </a:p>
        </p:txBody>
      </p:sp>
      <p:sp>
        <p:nvSpPr>
          <p:cNvPr id="4" name="TextBox 3">
            <a:extLst>
              <a:ext uri="{FF2B5EF4-FFF2-40B4-BE49-F238E27FC236}">
                <a16:creationId xmlns:a16="http://schemas.microsoft.com/office/drawing/2014/main" id="{08371618-F527-56B0-EA85-121F5709A366}"/>
              </a:ext>
            </a:extLst>
          </p:cNvPr>
          <p:cNvSpPr txBox="1"/>
          <p:nvPr/>
        </p:nvSpPr>
        <p:spPr>
          <a:xfrm>
            <a:off x="1068139" y="1305341"/>
            <a:ext cx="10288119" cy="4247317"/>
          </a:xfrm>
          <a:prstGeom prst="rect">
            <a:avLst/>
          </a:prstGeom>
          <a:noFill/>
        </p:spPr>
        <p:txBody>
          <a:bodyPr wrap="square">
            <a:spAutoFit/>
          </a:bodyPr>
          <a:lstStyle/>
          <a:p>
            <a:r>
              <a:rPr lang="en-IN" b="1" u="sng" dirty="0"/>
              <a:t>Frontend</a:t>
            </a:r>
          </a:p>
          <a:p>
            <a:pPr marL="285750" indent="-285750">
              <a:buFont typeface="Wingdings" panose="05000000000000000000" pitchFamily="2" charset="2"/>
              <a:buChar char="§"/>
            </a:pPr>
            <a:r>
              <a:rPr lang="en-IN" dirty="0"/>
              <a:t>HTML – Creates the structure of the web application</a:t>
            </a:r>
          </a:p>
          <a:p>
            <a:pPr marL="285750" indent="-285750">
              <a:buFont typeface="Wingdings" panose="05000000000000000000" pitchFamily="2" charset="2"/>
              <a:buChar char="§"/>
            </a:pPr>
            <a:r>
              <a:rPr lang="en-IN" dirty="0"/>
              <a:t>CSS – Designs and styles the user interface</a:t>
            </a:r>
          </a:p>
          <a:p>
            <a:pPr marL="285750" indent="-285750">
              <a:buFont typeface="Wingdings" panose="05000000000000000000" pitchFamily="2" charset="2"/>
              <a:buChar char="§"/>
            </a:pPr>
            <a:r>
              <a:rPr lang="en-IN" dirty="0"/>
              <a:t>JavaScript – Records voice, sends audio to backend, displays results</a:t>
            </a:r>
          </a:p>
          <a:p>
            <a:r>
              <a:rPr lang="en-IN" b="1" u="sng" dirty="0"/>
              <a:t>Backend</a:t>
            </a:r>
          </a:p>
          <a:p>
            <a:pPr marL="285750" indent="-285750">
              <a:buFont typeface="Wingdings" panose="05000000000000000000" pitchFamily="2" charset="2"/>
              <a:buChar char="§"/>
            </a:pPr>
            <a:r>
              <a:rPr lang="en-IN" dirty="0"/>
              <a:t>Python Library– Core programming language</a:t>
            </a:r>
          </a:p>
          <a:p>
            <a:pPr marL="285750" indent="-285750">
              <a:buFont typeface="Wingdings" panose="05000000000000000000" pitchFamily="2" charset="2"/>
              <a:buChar char="§"/>
            </a:pPr>
            <a:r>
              <a:rPr lang="en-IN" dirty="0"/>
              <a:t>Flask – Handles server requests and audio file uploads</a:t>
            </a:r>
          </a:p>
          <a:p>
            <a:r>
              <a:rPr lang="en-IN" b="1" u="sng" dirty="0"/>
              <a:t>Machine Learning &amp; Audio Processing</a:t>
            </a:r>
          </a:p>
          <a:p>
            <a:pPr marL="285750" indent="-285750">
              <a:buFont typeface="Wingdings" panose="05000000000000000000" pitchFamily="2" charset="2"/>
              <a:buChar char="§"/>
            </a:pPr>
            <a:r>
              <a:rPr lang="en-IN" dirty="0" err="1"/>
              <a:t>Librosa</a:t>
            </a:r>
            <a:r>
              <a:rPr lang="en-IN" dirty="0"/>
              <a:t> – Extracts voice features (MFCC, pitch, energy)</a:t>
            </a:r>
          </a:p>
          <a:p>
            <a:pPr marL="285750" indent="-285750">
              <a:buFont typeface="Wingdings" panose="05000000000000000000" pitchFamily="2" charset="2"/>
              <a:buChar char="§"/>
            </a:pPr>
            <a:r>
              <a:rPr lang="en-IN" dirty="0"/>
              <a:t>NumPy &amp; Pandas – Data processing and analysis</a:t>
            </a:r>
          </a:p>
          <a:p>
            <a:pPr marL="285750" indent="-285750">
              <a:buFont typeface="Wingdings" panose="05000000000000000000" pitchFamily="2" charset="2"/>
              <a:buChar char="§"/>
            </a:pPr>
            <a:r>
              <a:rPr lang="en-IN" dirty="0"/>
              <a:t>Scikit-learn – Stress classification using ML algorithms</a:t>
            </a:r>
          </a:p>
          <a:p>
            <a:r>
              <a:rPr lang="en-IN" b="1" u="sng" dirty="0"/>
              <a:t>Tools</a:t>
            </a:r>
          </a:p>
          <a:p>
            <a:pPr marL="285750" indent="-285750">
              <a:buFont typeface="Wingdings" panose="05000000000000000000" pitchFamily="2" charset="2"/>
              <a:buChar char="§"/>
            </a:pPr>
            <a:r>
              <a:rPr lang="en-IN" dirty="0"/>
              <a:t>VS Code – Development environment</a:t>
            </a:r>
          </a:p>
          <a:p>
            <a:pPr marL="285750" indent="-285750">
              <a:buFont typeface="Wingdings" panose="05000000000000000000" pitchFamily="2" charset="2"/>
              <a:buChar char="§"/>
            </a:pPr>
            <a:r>
              <a:rPr lang="en-IN" dirty="0"/>
              <a:t>Live Server – Frontend execution</a:t>
            </a:r>
          </a:p>
          <a:p>
            <a:pPr marL="285750" indent="-285750">
              <a:buFont typeface="Wingdings" panose="05000000000000000000" pitchFamily="2" charset="2"/>
              <a:buChar char="§"/>
            </a:pPr>
            <a:r>
              <a:rPr lang="en-IN" dirty="0"/>
              <a:t>Browser Microphone API – Voice recording</a:t>
            </a:r>
          </a:p>
        </p:txBody>
      </p:sp>
    </p:spTree>
    <p:extLst>
      <p:ext uri="{BB962C8B-B14F-4D97-AF65-F5344CB8AC3E}">
        <p14:creationId xmlns:p14="http://schemas.microsoft.com/office/powerpoint/2010/main" val="4194832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79D2-A180-910F-0244-8118D4D55B88}"/>
              </a:ext>
            </a:extLst>
          </p:cNvPr>
          <p:cNvSpPr>
            <a:spLocks noGrp="1"/>
          </p:cNvSpPr>
          <p:nvPr>
            <p:ph type="title"/>
          </p:nvPr>
        </p:nvSpPr>
        <p:spPr>
          <a:xfrm>
            <a:off x="1156636" y="434428"/>
            <a:ext cx="7958331" cy="1077229"/>
          </a:xfrm>
        </p:spPr>
        <p:txBody>
          <a:bodyPr>
            <a:normAutofit/>
          </a:bodyPr>
          <a:lstStyle/>
          <a:p>
            <a:pPr algn="l"/>
            <a:r>
              <a:rPr lang="en-IN" sz="4500" b="1" u="sng" dirty="0"/>
              <a:t>4.FEATURES</a:t>
            </a:r>
          </a:p>
        </p:txBody>
      </p:sp>
      <p:sp>
        <p:nvSpPr>
          <p:cNvPr id="3" name="Rectangle 1">
            <a:extLst>
              <a:ext uri="{FF2B5EF4-FFF2-40B4-BE49-F238E27FC236}">
                <a16:creationId xmlns:a16="http://schemas.microsoft.com/office/drawing/2014/main" id="{A0B88AA6-9AA9-07A3-2766-A82C67FC900A}"/>
              </a:ext>
            </a:extLst>
          </p:cNvPr>
          <p:cNvSpPr>
            <a:spLocks noChangeArrowheads="1"/>
          </p:cNvSpPr>
          <p:nvPr/>
        </p:nvSpPr>
        <p:spPr bwMode="auto">
          <a:xfrm>
            <a:off x="1156636" y="1233423"/>
            <a:ext cx="10199622"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Wingdings" panose="05000000000000000000" pitchFamily="2" charset="2"/>
              <a:buChar char="§"/>
            </a:pPr>
            <a:r>
              <a:rPr lang="en-US" sz="1700" b="1" u="sng" dirty="0"/>
              <a:t>Real-Time Voice Capture-</a:t>
            </a:r>
            <a:r>
              <a:rPr lang="en-US" sz="1700" dirty="0"/>
              <a:t>The system records voice samples directly through the web browser using the Media Devices API. It captures clear and high-quality audio without needing any extra software or hardware.</a:t>
            </a:r>
          </a:p>
          <a:p>
            <a:pPr marL="285750" indent="-285750" algn="just">
              <a:buFont typeface="Wingdings" panose="05000000000000000000" pitchFamily="2" charset="2"/>
              <a:buChar char="§"/>
            </a:pPr>
            <a:r>
              <a:rPr lang="en-US" sz="1700" b="1" u="sng" dirty="0"/>
              <a:t>Audio Signal Analysis</a:t>
            </a:r>
            <a:r>
              <a:rPr lang="en-US" sz="1700" b="1" dirty="0"/>
              <a:t>-</a:t>
            </a:r>
            <a:r>
              <a:rPr lang="en-US" sz="1700" dirty="0"/>
              <a:t>The application studies natural changes in a person’s voice caused by stress. It analyzes features like pitch, loudness, and frequency to identify emotional or mental stress.</a:t>
            </a:r>
          </a:p>
          <a:p>
            <a:pPr marL="285750" indent="-285750" algn="just">
              <a:buFont typeface="Wingdings" panose="05000000000000000000" pitchFamily="2" charset="2"/>
              <a:buChar char="§"/>
            </a:pPr>
            <a:r>
              <a:rPr lang="en-US" sz="1700" b="1" u="sng" dirty="0"/>
              <a:t>Instant Stress Scoring-</a:t>
            </a:r>
            <a:r>
              <a:rPr lang="en-US" sz="1700" dirty="0"/>
              <a:t>After recording, the system gives instant results. Stress levels are shown as </a:t>
            </a:r>
            <a:r>
              <a:rPr lang="en-US" sz="1700" b="1" dirty="0"/>
              <a:t>Low, Moderate, or High</a:t>
            </a:r>
            <a:r>
              <a:rPr lang="en-US" sz="1700" dirty="0"/>
              <a:t>, making them easy to understand.</a:t>
            </a:r>
          </a:p>
          <a:p>
            <a:pPr marL="285750" indent="-285750" algn="just">
              <a:buFont typeface="Wingdings" panose="05000000000000000000" pitchFamily="2" charset="2"/>
              <a:buChar char="§"/>
            </a:pPr>
            <a:r>
              <a:rPr lang="en-US" sz="1700" b="1" u="sng" dirty="0"/>
              <a:t>Interactive Dashboard-</a:t>
            </a:r>
            <a:r>
              <a:rPr lang="en-US" sz="1700" dirty="0"/>
              <a:t>Each user gets a personal dashboard. It shows total voice tests, average stress levels, and common emotions using simple visual indicators and charts.</a:t>
            </a:r>
          </a:p>
          <a:p>
            <a:pPr marL="285750" indent="-285750" algn="just">
              <a:buFont typeface="Wingdings" panose="05000000000000000000" pitchFamily="2" charset="2"/>
              <a:buChar char="§"/>
            </a:pPr>
            <a:r>
              <a:rPr lang="en-US" sz="1700" b="1" u="sng" dirty="0"/>
              <a:t>Historical Tracking-</a:t>
            </a:r>
            <a:r>
              <a:rPr lang="en-US" sz="1700" dirty="0"/>
              <a:t>The system stores past records so users can track their mental health over time. They can view stress patterns over days or months.</a:t>
            </a:r>
          </a:p>
          <a:p>
            <a:pPr marL="285750" indent="-285750" algn="just">
              <a:buFont typeface="Wingdings" panose="05000000000000000000" pitchFamily="2" charset="2"/>
              <a:buChar char="§"/>
            </a:pPr>
            <a:r>
              <a:rPr lang="en-US" sz="1700" b="1" u="sng" dirty="0"/>
              <a:t>Dynamic Visualizations-</a:t>
            </a:r>
            <a:r>
              <a:rPr lang="en-US" sz="1700" dirty="0"/>
              <a:t>During voice recording, live sound wave animations are displayed. After analysis, bar charts help users understand their stress probabilities clearly.</a:t>
            </a:r>
          </a:p>
          <a:p>
            <a:pPr marL="285750" indent="-285750" algn="just">
              <a:buFont typeface="Wingdings" panose="05000000000000000000" pitchFamily="2" charset="2"/>
              <a:buChar char="§"/>
            </a:pPr>
            <a:r>
              <a:rPr lang="en-US" sz="1700" b="1" u="sng" dirty="0"/>
              <a:t>Wellness Recommendations-</a:t>
            </a:r>
            <a:r>
              <a:rPr lang="en-US" sz="1700" dirty="0"/>
              <a:t>Based on the detected stress level, the system provides useful wellness tips. These tips help users relax and improve their mental well-being.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7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3060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0B8814-2D71-F3B1-C145-0198FB4337CF}"/>
              </a:ext>
            </a:extLst>
          </p:cNvPr>
          <p:cNvSpPr>
            <a:spLocks noGrp="1"/>
          </p:cNvSpPr>
          <p:nvPr>
            <p:ph type="body" idx="1"/>
          </p:nvPr>
        </p:nvSpPr>
        <p:spPr>
          <a:xfrm>
            <a:off x="-79766" y="78238"/>
            <a:ext cx="10982223" cy="878468"/>
          </a:xfrm>
        </p:spPr>
        <p:txBody>
          <a:bodyPr>
            <a:noAutofit/>
          </a:bodyPr>
          <a:lstStyle/>
          <a:p>
            <a:r>
              <a:rPr lang="en-IN" sz="4500" b="1" u="sng" dirty="0"/>
              <a:t>5.MACHINE LEARNING APPROACH</a:t>
            </a:r>
          </a:p>
        </p:txBody>
      </p:sp>
      <p:sp>
        <p:nvSpPr>
          <p:cNvPr id="4" name="Rectangle 1">
            <a:extLst>
              <a:ext uri="{FF2B5EF4-FFF2-40B4-BE49-F238E27FC236}">
                <a16:creationId xmlns:a16="http://schemas.microsoft.com/office/drawing/2014/main" id="{DD2E1E49-EA1D-DD61-7DA2-7E87BF2548B5}"/>
              </a:ext>
            </a:extLst>
          </p:cNvPr>
          <p:cNvSpPr>
            <a:spLocks noGrp="1" noChangeArrowheads="1"/>
          </p:cNvSpPr>
          <p:nvPr>
            <p:ph type="title"/>
          </p:nvPr>
        </p:nvSpPr>
        <p:spPr bwMode="auto">
          <a:xfrm>
            <a:off x="1151780" y="1316214"/>
            <a:ext cx="10121390" cy="4829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l">
              <a:buFont typeface="Wingdings" panose="05000000000000000000" pitchFamily="2" charset="2"/>
              <a:buChar char="§"/>
            </a:pPr>
            <a:r>
              <a:rPr lang="en-US" sz="1800" b="1" u="sng" dirty="0"/>
              <a:t>Data Collection &amp; Pre-processing</a:t>
            </a:r>
            <a:br>
              <a:rPr lang="en-US" sz="1800" b="1" dirty="0"/>
            </a:br>
            <a:r>
              <a:rPr lang="en-US" sz="1800" dirty="0"/>
              <a:t>The system records live voice through the web browser using the </a:t>
            </a:r>
            <a:r>
              <a:rPr lang="en-US" sz="1800" dirty="0" err="1"/>
              <a:t>MediaDevices</a:t>
            </a:r>
            <a:r>
              <a:rPr lang="en-US" sz="1800" dirty="0"/>
              <a:t> API. Background noise is reduced and the audio is normalized to make the voice clear and consistent.</a:t>
            </a:r>
            <a:br>
              <a:rPr lang="en-US" sz="1800" dirty="0"/>
            </a:br>
            <a:r>
              <a:rPr lang="en-US" sz="1800" b="1" u="sng" dirty="0"/>
              <a:t>Feature Extraction</a:t>
            </a:r>
            <a:br>
              <a:rPr lang="en-US" sz="1800" b="1" dirty="0"/>
            </a:br>
            <a:r>
              <a:rPr lang="en-US" sz="1800" dirty="0"/>
              <a:t>The system extracts important voice features to detect stress.</a:t>
            </a:r>
            <a:br>
              <a:rPr lang="en-US" sz="1800" dirty="0"/>
            </a:br>
            <a:r>
              <a:rPr lang="en-US" sz="1800" b="1" dirty="0"/>
              <a:t>MFCC</a:t>
            </a:r>
            <a:r>
              <a:rPr lang="en-US" sz="1800" dirty="0"/>
              <a:t> is used to understand voice patterns and speech shape.</a:t>
            </a:r>
            <a:br>
              <a:rPr lang="en-US" sz="1800" dirty="0"/>
            </a:br>
            <a:r>
              <a:rPr lang="en-US" sz="1800" b="1" dirty="0"/>
              <a:t>Prosodic features</a:t>
            </a:r>
            <a:r>
              <a:rPr lang="en-US" sz="1800" dirty="0"/>
              <a:t> like pitch and loudness are measured, as stress usually increases voice frequency.</a:t>
            </a:r>
            <a:br>
              <a:rPr lang="en-US" sz="1800" dirty="0"/>
            </a:br>
            <a:r>
              <a:rPr lang="en-US" sz="1800" b="1" dirty="0"/>
              <a:t>Voice variations</a:t>
            </a:r>
            <a:r>
              <a:rPr lang="en-US" sz="1800" dirty="0"/>
              <a:t> such as small voice vibrations (jitter and shimmer) are analyzed, which occur due to muscle tension during stress.</a:t>
            </a:r>
            <a:br>
              <a:rPr lang="en-US" sz="1800" dirty="0"/>
            </a:br>
            <a:r>
              <a:rPr lang="en-US" sz="1800" b="1" u="sng" dirty="0"/>
              <a:t>Model Training &amp; Classification</a:t>
            </a:r>
            <a:br>
              <a:rPr lang="en-US" sz="1800" b="1" u="sng" dirty="0"/>
            </a:br>
            <a:r>
              <a:rPr lang="en-US" sz="1800" dirty="0"/>
              <a:t>Machine learning models like </a:t>
            </a:r>
            <a:r>
              <a:rPr lang="en-US" sz="1800" b="1" dirty="0"/>
              <a:t>Support Vector Machine (SVM)</a:t>
            </a:r>
            <a:r>
              <a:rPr lang="en-US" sz="1800" dirty="0"/>
              <a:t> or </a:t>
            </a:r>
            <a:r>
              <a:rPr lang="en-US" sz="1800" b="1" dirty="0"/>
              <a:t>Random Forest</a:t>
            </a:r>
            <a:r>
              <a:rPr lang="en-US" sz="1800" dirty="0"/>
              <a:t> are used to classify stress levels.</a:t>
            </a:r>
            <a:br>
              <a:rPr lang="en-US" sz="1800" dirty="0"/>
            </a:br>
            <a:r>
              <a:rPr lang="en-US" sz="1800" dirty="0"/>
              <a:t>The model is trained using standard emotional voice datasets such as </a:t>
            </a:r>
            <a:r>
              <a:rPr lang="en-US" sz="1800" b="1" dirty="0"/>
              <a:t>RAVDESS</a:t>
            </a:r>
            <a:r>
              <a:rPr lang="en-US" sz="1800" dirty="0"/>
              <a:t> and </a:t>
            </a:r>
            <a:r>
              <a:rPr lang="en-US" sz="1800" b="1" dirty="0"/>
              <a:t>TESS</a:t>
            </a:r>
            <a:r>
              <a:rPr lang="en-US" sz="1800" dirty="0"/>
              <a:t>.</a:t>
            </a:r>
            <a:br>
              <a:rPr lang="en-US" sz="1800" dirty="0"/>
            </a:br>
            <a:r>
              <a:rPr lang="en-US" sz="1800" b="1" u="sng" dirty="0"/>
              <a:t>Real-Time Prediction</a:t>
            </a:r>
            <a:br>
              <a:rPr lang="en-US" sz="1800" b="1" dirty="0"/>
            </a:br>
            <a:r>
              <a:rPr lang="en-US" sz="1800" dirty="0"/>
              <a:t>The extracted voice features are sent to the trained model.</a:t>
            </a:r>
            <a:br>
              <a:rPr lang="en-US" sz="1800" dirty="0"/>
            </a:br>
            <a:r>
              <a:rPr lang="en-US" sz="1800" dirty="0"/>
              <a:t>The system instantly predicts stress levels and displays results as </a:t>
            </a:r>
            <a:r>
              <a:rPr lang="en-US" sz="1800" b="1" dirty="0"/>
              <a:t>Low, Moderate, or High</a:t>
            </a:r>
            <a:r>
              <a:rPr lang="en-US" sz="1800" dirty="0"/>
              <a:t>.</a:t>
            </a:r>
            <a:br>
              <a:rPr lang="en-US" sz="1800" dirty="0"/>
            </a:b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7314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351AF3F-083B-00F6-FE3E-190A3F4CA417}"/>
              </a:ext>
            </a:extLst>
          </p:cNvPr>
          <p:cNvPicPr>
            <a:picLocks noGrp="1" noChangeAspect="1"/>
          </p:cNvPicPr>
          <p:nvPr>
            <p:ph type="pic" idx="1"/>
          </p:nvPr>
        </p:nvPicPr>
        <p:blipFill>
          <a:blip r:embed="rId2"/>
          <a:srcRect l="16927" r="20580"/>
          <a:stretch>
            <a:fillRect/>
          </a:stretch>
        </p:blipFill>
        <p:spPr>
          <a:xfrm>
            <a:off x="6747063" y="206477"/>
            <a:ext cx="4373222" cy="6548284"/>
          </a:xfrm>
          <a:ln w="76200">
            <a:solidFill>
              <a:schemeClr val="accent1">
                <a:lumMod val="60000"/>
                <a:lumOff val="40000"/>
              </a:schemeClr>
            </a:solidFill>
          </a:ln>
        </p:spPr>
      </p:pic>
      <p:sp>
        <p:nvSpPr>
          <p:cNvPr id="3" name="Title 2">
            <a:extLst>
              <a:ext uri="{FF2B5EF4-FFF2-40B4-BE49-F238E27FC236}">
                <a16:creationId xmlns:a16="http://schemas.microsoft.com/office/drawing/2014/main" id="{3B55CB4C-561B-0711-D3DE-2040A5261569}"/>
              </a:ext>
            </a:extLst>
          </p:cNvPr>
          <p:cNvSpPr>
            <a:spLocks noGrp="1"/>
          </p:cNvSpPr>
          <p:nvPr>
            <p:ph type="title"/>
          </p:nvPr>
        </p:nvSpPr>
        <p:spPr>
          <a:xfrm>
            <a:off x="1076502" y="-890481"/>
            <a:ext cx="4704865" cy="1900473"/>
          </a:xfrm>
        </p:spPr>
        <p:txBody>
          <a:bodyPr>
            <a:normAutofit/>
          </a:bodyPr>
          <a:lstStyle/>
          <a:p>
            <a:r>
              <a:rPr lang="en-IN" sz="4500" b="1" u="sng" dirty="0"/>
              <a:t>6.FLOWCHART</a:t>
            </a:r>
          </a:p>
        </p:txBody>
      </p:sp>
      <p:sp>
        <p:nvSpPr>
          <p:cNvPr id="2" name="Text Placeholder 1">
            <a:extLst>
              <a:ext uri="{FF2B5EF4-FFF2-40B4-BE49-F238E27FC236}">
                <a16:creationId xmlns:a16="http://schemas.microsoft.com/office/drawing/2014/main" id="{41EE3C8D-DDAA-DC7A-DA0A-BCB58788211B}"/>
              </a:ext>
            </a:extLst>
          </p:cNvPr>
          <p:cNvSpPr>
            <a:spLocks noGrp="1" noChangeArrowheads="1"/>
          </p:cNvSpPr>
          <p:nvPr>
            <p:ph type="body" sz="half" idx="2"/>
          </p:nvPr>
        </p:nvSpPr>
        <p:spPr bwMode="auto">
          <a:xfrm>
            <a:off x="1164076" y="1060594"/>
            <a:ext cx="558298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User opens the website.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User login or signs up.</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System displays the dashboard.</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User starts voice recording.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System detects the voice input.</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System performs classification.</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System displays the result (High / Moderate / Low).</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Result is saved to history.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b="0" i="0" u="none" strike="noStrike" cap="none" normalizeH="0" baseline="0" dirty="0">
                <a:ln>
                  <a:noFill/>
                </a:ln>
                <a:solidFill>
                  <a:schemeClr val="tx1"/>
                </a:solidFill>
                <a:effectLst/>
                <a:latin typeface="Arial" panose="020B0604020202020204" pitchFamily="34" charset="0"/>
              </a:rPr>
              <a:t>Process ends.</a:t>
            </a:r>
          </a:p>
        </p:txBody>
      </p:sp>
    </p:spTree>
    <p:extLst>
      <p:ext uri="{BB962C8B-B14F-4D97-AF65-F5344CB8AC3E}">
        <p14:creationId xmlns:p14="http://schemas.microsoft.com/office/powerpoint/2010/main" val="2343347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379716-A25B-D409-458B-D6978761203A}"/>
              </a:ext>
            </a:extLst>
          </p:cNvPr>
          <p:cNvSpPr txBox="1"/>
          <p:nvPr/>
        </p:nvSpPr>
        <p:spPr>
          <a:xfrm>
            <a:off x="1081544" y="314633"/>
            <a:ext cx="8648521" cy="784830"/>
          </a:xfrm>
          <a:prstGeom prst="rect">
            <a:avLst/>
          </a:prstGeom>
          <a:noFill/>
        </p:spPr>
        <p:txBody>
          <a:bodyPr wrap="none" rtlCol="0">
            <a:spAutoFit/>
          </a:bodyPr>
          <a:lstStyle/>
          <a:p>
            <a:r>
              <a:rPr lang="en-IN" sz="4500" b="1" u="sng" dirty="0"/>
              <a:t>7.Model Evaluation &amp; Metrices</a:t>
            </a:r>
          </a:p>
        </p:txBody>
      </p:sp>
      <p:sp>
        <p:nvSpPr>
          <p:cNvPr id="8" name="Rectangle 3">
            <a:extLst>
              <a:ext uri="{FF2B5EF4-FFF2-40B4-BE49-F238E27FC236}">
                <a16:creationId xmlns:a16="http://schemas.microsoft.com/office/drawing/2014/main" id="{4F626EA8-7F57-792B-7596-FC1F2FA3D94E}"/>
              </a:ext>
            </a:extLst>
          </p:cNvPr>
          <p:cNvSpPr>
            <a:spLocks noChangeArrowheads="1"/>
          </p:cNvSpPr>
          <p:nvPr/>
        </p:nvSpPr>
        <p:spPr bwMode="auto">
          <a:xfrm>
            <a:off x="1022555" y="1352241"/>
            <a:ext cx="1022554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Overall Accuracy</a:t>
            </a:r>
            <a:r>
              <a:rPr kumimoji="0" lang="en-US" altLang="en-US" sz="1800" i="0" u="none" strike="noStrike" cap="none" normalizeH="0" baseline="0" dirty="0">
                <a:ln>
                  <a:noFill/>
                </a:ln>
                <a:solidFill>
                  <a:schemeClr val="tx1"/>
                </a:solidFill>
                <a:effectLst/>
                <a:latin typeface="Arial" panose="020B0604020202020204" pitchFamily="34" charset="0"/>
              </a:rPr>
              <a:t>: This tells us what percentage of the time the AI correctly identified the user's stress level (Low, Moderate, or High).</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Reliability (No Missed Cases):</a:t>
            </a:r>
            <a:r>
              <a:rPr kumimoji="0" lang="en-US" altLang="en-US" sz="1800" i="0" u="none" strike="noStrike" cap="none" normalizeH="0" baseline="0" dirty="0">
                <a:ln>
                  <a:noFill/>
                </a:ln>
                <a:solidFill>
                  <a:schemeClr val="tx1"/>
                </a:solidFill>
                <a:effectLst/>
                <a:latin typeface="Arial" panose="020B0604020202020204" pitchFamily="34" charset="0"/>
              </a:rPr>
              <a:t>Our priority is to ensure the system does not miss someone who is truly stressed. This is called "Recall."</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Precision (No False Alarms):</a:t>
            </a:r>
            <a:r>
              <a:rPr kumimoji="0" lang="en-US" altLang="en-US" sz="1800" i="0" u="none" strike="noStrike" cap="none" normalizeH="0" baseline="0" dirty="0">
                <a:ln>
                  <a:noFill/>
                </a:ln>
                <a:solidFill>
                  <a:schemeClr val="tx1"/>
                </a:solidFill>
                <a:effectLst/>
                <a:latin typeface="Arial" panose="020B0604020202020204" pitchFamily="34" charset="0"/>
              </a:rPr>
              <a:t>This ensures the AI doesn’t accidentally tell a calm person that they are stressed.</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Error Checking:</a:t>
            </a: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We use a chart (Confusion Matrix) to see where the AI gets confused—for example, if it is mixing up "Moderate Stress" with "High Stress."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Testing with Diverse Voices</a:t>
            </a:r>
            <a:r>
              <a:rPr kumimoji="0" lang="en-US" altLang="en-US" sz="1800" i="0" u="none" strike="noStrike" cap="none" normalizeH="0" baseline="0" dirty="0">
                <a:ln>
                  <a:noFill/>
                </a:ln>
                <a:solidFill>
                  <a:schemeClr val="tx1"/>
                </a:solidFill>
                <a:effectLst/>
                <a:latin typeface="Arial" panose="020B0604020202020204" pitchFamily="34" charset="0"/>
              </a:rPr>
              <a:t>: We tested the system with many different voices (different ages, genders , accents) to make sure it works for everyone.</a:t>
            </a:r>
          </a:p>
        </p:txBody>
      </p:sp>
    </p:spTree>
    <p:extLst>
      <p:ext uri="{BB962C8B-B14F-4D97-AF65-F5344CB8AC3E}">
        <p14:creationId xmlns:p14="http://schemas.microsoft.com/office/powerpoint/2010/main" val="148615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2B57C9-F501-BBE2-71E3-0226E77CB2AE}"/>
              </a:ext>
            </a:extLst>
          </p:cNvPr>
          <p:cNvSpPr txBox="1"/>
          <p:nvPr/>
        </p:nvSpPr>
        <p:spPr>
          <a:xfrm>
            <a:off x="1111045" y="167144"/>
            <a:ext cx="7622600" cy="784830"/>
          </a:xfrm>
          <a:prstGeom prst="rect">
            <a:avLst/>
          </a:prstGeom>
          <a:noFill/>
        </p:spPr>
        <p:txBody>
          <a:bodyPr wrap="none" rtlCol="0">
            <a:spAutoFit/>
          </a:bodyPr>
          <a:lstStyle/>
          <a:p>
            <a:r>
              <a:rPr lang="en-IN" sz="4500" b="1" u="sng" dirty="0"/>
              <a:t>8.FUTURE ENHANCEMENT</a:t>
            </a:r>
          </a:p>
        </p:txBody>
      </p:sp>
      <p:sp>
        <p:nvSpPr>
          <p:cNvPr id="3" name="Rectangle 1">
            <a:extLst>
              <a:ext uri="{FF2B5EF4-FFF2-40B4-BE49-F238E27FC236}">
                <a16:creationId xmlns:a16="http://schemas.microsoft.com/office/drawing/2014/main" id="{967CF353-68EB-D0DF-1357-8C094B83BF27}"/>
              </a:ext>
            </a:extLst>
          </p:cNvPr>
          <p:cNvSpPr>
            <a:spLocks noChangeArrowheads="1"/>
          </p:cNvSpPr>
          <p:nvPr/>
        </p:nvSpPr>
        <p:spPr bwMode="auto">
          <a:xfrm>
            <a:off x="1111044" y="1169269"/>
            <a:ext cx="1017638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Mobile Application Development</a:t>
            </a:r>
            <a:r>
              <a:rPr kumimoji="0" lang="en-US" altLang="en-US" sz="1800" i="0" u="none" strike="noStrike" cap="none" normalizeH="0" baseline="0" dirty="0">
                <a:ln>
                  <a:noFill/>
                </a:ln>
                <a:solidFill>
                  <a:schemeClr val="tx1"/>
                </a:solidFill>
                <a:effectLst/>
                <a:latin typeface="Arial" panose="020B0604020202020204" pitchFamily="34" charset="0"/>
              </a:rPr>
              <a:t>: Transitioning from a web-based UI to a dedicated Android and iOS app for easier access and on-the-go stress monitoring.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Wearable Integration</a:t>
            </a:r>
            <a:r>
              <a:rPr kumimoji="0" lang="en-US" altLang="en-US" sz="1800" i="0" u="none" strike="noStrike" cap="none" normalizeH="0" baseline="0" dirty="0">
                <a:ln>
                  <a:noFill/>
                </a:ln>
                <a:solidFill>
                  <a:schemeClr val="tx1"/>
                </a:solidFill>
                <a:effectLst/>
                <a:latin typeface="Arial" panose="020B0604020202020204" pitchFamily="34" charset="0"/>
              </a:rPr>
              <a:t>: Syncing with Smartwatches to combine voice data with heart rate (HRV) and sleep patterns for better accuracy.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Multi-Modal Analysis</a:t>
            </a:r>
            <a:r>
              <a:rPr kumimoji="0" lang="en-US" altLang="en-US" sz="1800" i="0" u="none" strike="noStrike" cap="none" normalizeH="0" baseline="0" dirty="0">
                <a:ln>
                  <a:noFill/>
                </a:ln>
                <a:solidFill>
                  <a:schemeClr val="tx1"/>
                </a:solidFill>
                <a:effectLst/>
                <a:latin typeface="Arial" panose="020B0604020202020204" pitchFamily="34" charset="0"/>
              </a:rPr>
              <a:t>: Adding Facial Expression Recognition using the camera to analyze both voice tone and face muscles at the same time.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Personalized AI Baselines</a:t>
            </a:r>
            <a:r>
              <a:rPr kumimoji="0" lang="en-US" altLang="en-US" sz="1800" i="0" u="none" strike="noStrike" cap="none" normalizeH="0" baseline="0" dirty="0">
                <a:ln>
                  <a:noFill/>
                </a:ln>
                <a:solidFill>
                  <a:schemeClr val="tx1"/>
                </a:solidFill>
                <a:effectLst/>
                <a:latin typeface="Arial" panose="020B0604020202020204" pitchFamily="34" charset="0"/>
              </a:rPr>
              <a:t>: Training the AI to learn a specific user's "normal" voice over time, making the stress detection much more personalized and accurate.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Multilingual Support:</a:t>
            </a:r>
            <a:r>
              <a:rPr kumimoji="0" lang="en-US" altLang="en-US" sz="1800" i="0" u="none" strike="noStrike" cap="none" normalizeH="0" baseline="0" dirty="0">
                <a:ln>
                  <a:noFill/>
                </a:ln>
                <a:solidFill>
                  <a:schemeClr val="tx1"/>
                </a:solidFill>
                <a:effectLst/>
                <a:latin typeface="Arial" panose="020B0604020202020204" pitchFamily="34" charset="0"/>
              </a:rPr>
              <a:t> Expanding the model to detect stress patterns across different languages and regional accents without losing precision.</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Real-time Professional Help:</a:t>
            </a: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Adding a feature that automatically connects the user to a certified counselor or therapist if high stress is detected consistently for several days.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sng" strike="noStrike" cap="none" normalizeH="0" baseline="0" dirty="0">
                <a:ln>
                  <a:noFill/>
                </a:ln>
                <a:solidFill>
                  <a:schemeClr val="tx1"/>
                </a:solidFill>
                <a:effectLst/>
                <a:latin typeface="Arial" panose="020B0604020202020204" pitchFamily="34" charset="0"/>
              </a:rPr>
              <a:t>Corporate Wellness Tools:</a:t>
            </a:r>
            <a:r>
              <a:rPr kumimoji="0" lang="en-US" altLang="en-US" sz="1800" i="0" u="none" strike="noStrike" cap="none" normalizeH="0" baseline="0" dirty="0">
                <a:ln>
                  <a:noFill/>
                </a:ln>
                <a:solidFill>
                  <a:schemeClr val="tx1"/>
                </a:solidFill>
                <a:effectLst/>
                <a:latin typeface="Arial" panose="020B0604020202020204" pitchFamily="34" charset="0"/>
              </a:rPr>
              <a:t> Integrating the system into office communication tools to help companies monitor and improve employee mental health and prevent burnout.</a:t>
            </a:r>
          </a:p>
        </p:txBody>
      </p:sp>
    </p:spTree>
    <p:extLst>
      <p:ext uri="{BB962C8B-B14F-4D97-AF65-F5344CB8AC3E}">
        <p14:creationId xmlns:p14="http://schemas.microsoft.com/office/powerpoint/2010/main" val="1558361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0C4669-B1A5-14DF-4044-63DA83884122}"/>
              </a:ext>
            </a:extLst>
          </p:cNvPr>
          <p:cNvSpPr txBox="1"/>
          <p:nvPr/>
        </p:nvSpPr>
        <p:spPr>
          <a:xfrm>
            <a:off x="1071715" y="294967"/>
            <a:ext cx="4427109" cy="784830"/>
          </a:xfrm>
          <a:prstGeom prst="rect">
            <a:avLst/>
          </a:prstGeom>
          <a:noFill/>
        </p:spPr>
        <p:txBody>
          <a:bodyPr wrap="none" rtlCol="0">
            <a:spAutoFit/>
          </a:bodyPr>
          <a:lstStyle/>
          <a:p>
            <a:r>
              <a:rPr lang="en-IN" sz="4500" b="1" u="sng" dirty="0"/>
              <a:t>9.LIMITATIONS </a:t>
            </a:r>
          </a:p>
        </p:txBody>
      </p:sp>
      <p:sp>
        <p:nvSpPr>
          <p:cNvPr id="3" name="Rectangle 1">
            <a:extLst>
              <a:ext uri="{FF2B5EF4-FFF2-40B4-BE49-F238E27FC236}">
                <a16:creationId xmlns:a16="http://schemas.microsoft.com/office/drawing/2014/main" id="{4E16D239-5BF0-556A-4A79-A889793F8BC7}"/>
              </a:ext>
            </a:extLst>
          </p:cNvPr>
          <p:cNvSpPr>
            <a:spLocks noChangeArrowheads="1"/>
          </p:cNvSpPr>
          <p:nvPr/>
        </p:nvSpPr>
        <p:spPr bwMode="auto">
          <a:xfrm>
            <a:off x="1165608" y="1079797"/>
            <a:ext cx="995467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Background Noise Interference: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Environmental sounds (like fans, traffic, or other people talking) can distort the voice signal and affect analysis accuracy.</a:t>
            </a:r>
          </a:p>
          <a:p>
            <a:pPr marR="0" lvl="0" algn="just"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Microphone Quality: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results depend heavily on the user’s hardware. A low-quality microphone may not capture the subtle "micro-tremors" needed for precise detection.</a:t>
            </a:r>
          </a:p>
          <a:p>
            <a:pPr marR="0" lvl="0" algn="just"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Physical Health Factors: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If a user has a cold, sore throat, or cough, their vocal cords change naturally. This might lead the AI to wrongly identify "illness" as "stress."</a:t>
            </a:r>
          </a:p>
          <a:p>
            <a:pPr marR="0" lvl="0" algn="just"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Linguistic &amp; Accent Diversity: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Natural voice pitch varies across different languages, cultures, and age groups, which can sometimes lead to inconsistent results for diverse users.</a:t>
            </a:r>
          </a:p>
          <a:p>
            <a:pPr marR="0" lvl="0" algn="just"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Emotional Overlap:</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Highly excited or angry states can sometimes mimic stress patterns in the voice, making it difficult for the AI to distinguish between different high-energy emotions.</a:t>
            </a:r>
          </a:p>
          <a:p>
            <a:pPr marR="0" lvl="0" algn="just"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Internet &amp; Browser Dependency: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As a web-based tool, it requires a stable internet connection and modern browsers that support voice recording features (</a:t>
            </a:r>
            <a:r>
              <a:rPr kumimoji="0" lang="en-US" altLang="en-US" sz="1800" i="0" u="none" strike="noStrike" cap="none" normalizeH="0" baseline="0" dirty="0" err="1">
                <a:ln>
                  <a:noFill/>
                </a:ln>
                <a:solidFill>
                  <a:schemeClr val="tx1"/>
                </a:solidFill>
                <a:effectLst/>
                <a:latin typeface="Arial" panose="020B0604020202020204" pitchFamily="34" charset="0"/>
              </a:rPr>
              <a:t>MediaDevices</a:t>
            </a:r>
            <a:r>
              <a:rPr kumimoji="0" lang="en-US" altLang="en-US" sz="1800" i="0" u="none" strike="noStrike" cap="none" normalizeH="0" baseline="0" dirty="0">
                <a:ln>
                  <a:noFill/>
                </a:ln>
                <a:solidFill>
                  <a:schemeClr val="tx1"/>
                </a:solidFill>
                <a:effectLst/>
                <a:latin typeface="Arial" panose="020B0604020202020204" pitchFamily="34" charset="0"/>
              </a:rPr>
              <a:t> API).</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6088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CF3F9D-E6EA-2C35-154F-52CBC172BCED}"/>
              </a:ext>
            </a:extLst>
          </p:cNvPr>
          <p:cNvSpPr txBox="1"/>
          <p:nvPr/>
        </p:nvSpPr>
        <p:spPr>
          <a:xfrm>
            <a:off x="1075856" y="226140"/>
            <a:ext cx="5218095" cy="784830"/>
          </a:xfrm>
          <a:prstGeom prst="rect">
            <a:avLst/>
          </a:prstGeom>
          <a:noFill/>
        </p:spPr>
        <p:txBody>
          <a:bodyPr wrap="none" rtlCol="0">
            <a:spAutoFit/>
          </a:bodyPr>
          <a:lstStyle/>
          <a:p>
            <a:pPr algn="just"/>
            <a:r>
              <a:rPr lang="en-IN" sz="4500" b="1" u="sng" dirty="0"/>
              <a:t>10.CONCLUSIONS</a:t>
            </a:r>
          </a:p>
        </p:txBody>
      </p:sp>
      <p:sp>
        <p:nvSpPr>
          <p:cNvPr id="4" name="TextBox 3">
            <a:extLst>
              <a:ext uri="{FF2B5EF4-FFF2-40B4-BE49-F238E27FC236}">
                <a16:creationId xmlns:a16="http://schemas.microsoft.com/office/drawing/2014/main" id="{BD30EBAA-92CF-ED4C-C539-0D100DBACC55}"/>
              </a:ext>
            </a:extLst>
          </p:cNvPr>
          <p:cNvSpPr txBox="1"/>
          <p:nvPr/>
        </p:nvSpPr>
        <p:spPr>
          <a:xfrm>
            <a:off x="1219200" y="1180827"/>
            <a:ext cx="10068232" cy="2585323"/>
          </a:xfrm>
          <a:prstGeom prst="rect">
            <a:avLst/>
          </a:prstGeom>
          <a:noFill/>
        </p:spPr>
        <p:txBody>
          <a:bodyPr wrap="square">
            <a:spAutoFit/>
          </a:bodyPr>
          <a:lstStyle/>
          <a:p>
            <a:pPr algn="just"/>
            <a:r>
              <a:rPr lang="en-US" dirty="0"/>
              <a:t>The Voice Stress UI system successfully bridges the gap between technology and mental wellness by providing a seamless, end-to-end workflow for detecting psychological distress. Starting from a secure Login and moving through real-time Voice Recording, the architecture utilizes advanced Acoustic Feature Extraction to identify microscopic stress markers that are often invisible to the human ear. By intelligently classifying results into Low, </a:t>
            </a:r>
            <a:r>
              <a:rPr lang="en-US" dirty="0" err="1"/>
              <a:t>Moderate,High</a:t>
            </a:r>
            <a:r>
              <a:rPr lang="en-US" dirty="0"/>
              <a:t> categories via an AI Classification engine, the system provides an objective, non-invasive alternative to traditional self-reporting surveys. Ultimately, the system’s ability to Save to History empowers users with long-term trend tracking, making it a robust tool for early intervention and consistent mental health monitoring.</a:t>
            </a:r>
            <a:endParaRPr lang="en-IN" dirty="0"/>
          </a:p>
        </p:txBody>
      </p:sp>
    </p:spTree>
    <p:extLst>
      <p:ext uri="{BB962C8B-B14F-4D97-AF65-F5344CB8AC3E}">
        <p14:creationId xmlns:p14="http://schemas.microsoft.com/office/powerpoint/2010/main" val="500108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BC0AF3-345C-B924-869B-98F593778B26}"/>
              </a:ext>
            </a:extLst>
          </p:cNvPr>
          <p:cNvSpPr txBox="1"/>
          <p:nvPr/>
        </p:nvSpPr>
        <p:spPr>
          <a:xfrm>
            <a:off x="1019737" y="147482"/>
            <a:ext cx="4512967" cy="784830"/>
          </a:xfrm>
          <a:prstGeom prst="rect">
            <a:avLst/>
          </a:prstGeom>
          <a:noFill/>
        </p:spPr>
        <p:txBody>
          <a:bodyPr wrap="none" rtlCol="0">
            <a:spAutoFit/>
          </a:bodyPr>
          <a:lstStyle/>
          <a:p>
            <a:pPr algn="just"/>
            <a:r>
              <a:rPr lang="en-IN" sz="4500" b="1" u="sng" dirty="0"/>
              <a:t>11.REFERENCE</a:t>
            </a:r>
          </a:p>
        </p:txBody>
      </p:sp>
      <p:sp>
        <p:nvSpPr>
          <p:cNvPr id="4" name="TextBox 3">
            <a:extLst>
              <a:ext uri="{FF2B5EF4-FFF2-40B4-BE49-F238E27FC236}">
                <a16:creationId xmlns:a16="http://schemas.microsoft.com/office/drawing/2014/main" id="{781289E4-E81E-BC60-E11A-4755D3456493}"/>
              </a:ext>
            </a:extLst>
          </p:cNvPr>
          <p:cNvSpPr txBox="1"/>
          <p:nvPr/>
        </p:nvSpPr>
        <p:spPr>
          <a:xfrm>
            <a:off x="1229032" y="1103015"/>
            <a:ext cx="9969910" cy="2585323"/>
          </a:xfrm>
          <a:prstGeom prst="rect">
            <a:avLst/>
          </a:prstGeom>
          <a:noFill/>
        </p:spPr>
        <p:txBody>
          <a:bodyPr wrap="square">
            <a:spAutoFit/>
          </a:bodyPr>
          <a:lstStyle/>
          <a:p>
            <a:pPr algn="just"/>
            <a:r>
              <a:rPr lang="en-IN" b="1" u="sng" dirty="0"/>
              <a:t>Datasets Used:</a:t>
            </a:r>
          </a:p>
          <a:p>
            <a:pPr marL="285750" indent="-285750" algn="just">
              <a:buFont typeface="Wingdings" panose="05000000000000000000" pitchFamily="2" charset="2"/>
              <a:buChar char="§"/>
            </a:pPr>
            <a:r>
              <a:rPr lang="en-IN" dirty="0"/>
              <a:t>RAVDESS: Ryerson Audio-Visual Database of Emotional Speech and Song.</a:t>
            </a:r>
          </a:p>
          <a:p>
            <a:pPr marL="285750" indent="-285750" algn="just">
              <a:buFont typeface="Wingdings" panose="05000000000000000000" pitchFamily="2" charset="2"/>
              <a:buChar char="§"/>
            </a:pPr>
            <a:r>
              <a:rPr lang="en-IN" dirty="0"/>
              <a:t>TESS: Toronto Emotional Speech Set.</a:t>
            </a:r>
          </a:p>
          <a:p>
            <a:pPr marL="285750" indent="-285750" algn="just">
              <a:buFont typeface="Wingdings" panose="05000000000000000000" pitchFamily="2" charset="2"/>
              <a:buChar char="§"/>
            </a:pPr>
            <a:r>
              <a:rPr lang="en-IN" dirty="0"/>
              <a:t>SAVEE: Surrey Audio-Visual Emotional Database.</a:t>
            </a:r>
          </a:p>
          <a:p>
            <a:pPr algn="just"/>
            <a:r>
              <a:rPr lang="en-IN" b="1" u="sng" dirty="0"/>
              <a:t>Technical Documentation:</a:t>
            </a:r>
          </a:p>
          <a:p>
            <a:pPr marL="285750" indent="-285750" algn="just">
              <a:buFont typeface="Wingdings" panose="05000000000000000000" pitchFamily="2" charset="2"/>
              <a:buChar char="§"/>
            </a:pPr>
            <a:r>
              <a:rPr lang="en-IN" dirty="0"/>
              <a:t>MDN Web Docs: Web </a:t>
            </a:r>
            <a:r>
              <a:rPr lang="en-IN" dirty="0" err="1"/>
              <a:t>MediaDevices</a:t>
            </a:r>
            <a:r>
              <a:rPr lang="en-IN" dirty="0"/>
              <a:t> API and Web Audio API for real-time voice capturing.</a:t>
            </a:r>
          </a:p>
          <a:p>
            <a:pPr marL="285750" indent="-285750" algn="just">
              <a:buFont typeface="Wingdings" panose="05000000000000000000" pitchFamily="2" charset="2"/>
              <a:buChar char="§"/>
            </a:pPr>
            <a:r>
              <a:rPr lang="en-IN" dirty="0"/>
              <a:t>Scikit-Learn / TensorFlow: Documentation for implementing SVM and Random Forest classification models.</a:t>
            </a:r>
          </a:p>
          <a:p>
            <a:pPr marL="285750" indent="-285750" algn="just">
              <a:buFont typeface="Wingdings" panose="05000000000000000000" pitchFamily="2" charset="2"/>
              <a:buChar char="§"/>
            </a:pPr>
            <a:r>
              <a:rPr lang="en-IN" dirty="0"/>
              <a:t>W3C Standards: For responsive web design and accessibility in UI/UX development.</a:t>
            </a:r>
          </a:p>
        </p:txBody>
      </p:sp>
    </p:spTree>
    <p:extLst>
      <p:ext uri="{BB962C8B-B14F-4D97-AF65-F5344CB8AC3E}">
        <p14:creationId xmlns:p14="http://schemas.microsoft.com/office/powerpoint/2010/main" val="3662513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F0BFB2-65DA-D5CB-E8D7-9EE9D8B5E1F2}"/>
              </a:ext>
            </a:extLst>
          </p:cNvPr>
          <p:cNvSpPr txBox="1"/>
          <p:nvPr/>
        </p:nvSpPr>
        <p:spPr>
          <a:xfrm>
            <a:off x="3067663" y="1130708"/>
            <a:ext cx="6051465" cy="1169551"/>
          </a:xfrm>
          <a:prstGeom prst="rect">
            <a:avLst/>
          </a:prstGeom>
          <a:noFill/>
        </p:spPr>
        <p:txBody>
          <a:bodyPr wrap="none" rtlCol="0">
            <a:spAutoFit/>
          </a:bodyPr>
          <a:lstStyle/>
          <a:p>
            <a:r>
              <a:rPr lang="en-US" sz="7000" b="1" dirty="0">
                <a:solidFill>
                  <a:srgbClr val="0070C0"/>
                </a:solidFill>
              </a:rPr>
              <a:t>THANK YOU !</a:t>
            </a:r>
            <a:endParaRPr lang="en-IN" sz="7000" dirty="0"/>
          </a:p>
        </p:txBody>
      </p:sp>
      <p:sp>
        <p:nvSpPr>
          <p:cNvPr id="3" name="TextBox 2">
            <a:extLst>
              <a:ext uri="{FF2B5EF4-FFF2-40B4-BE49-F238E27FC236}">
                <a16:creationId xmlns:a16="http://schemas.microsoft.com/office/drawing/2014/main" id="{864A1143-20D7-B9BF-23AE-E246C15C0EBE}"/>
              </a:ext>
            </a:extLst>
          </p:cNvPr>
          <p:cNvSpPr txBox="1"/>
          <p:nvPr/>
        </p:nvSpPr>
        <p:spPr>
          <a:xfrm>
            <a:off x="1966451" y="3264308"/>
            <a:ext cx="8973932" cy="2246769"/>
          </a:xfrm>
          <a:prstGeom prst="rect">
            <a:avLst/>
          </a:prstGeom>
          <a:noFill/>
        </p:spPr>
        <p:txBody>
          <a:bodyPr wrap="none" rtlCol="0">
            <a:spAutoFit/>
          </a:bodyPr>
          <a:lstStyle/>
          <a:p>
            <a:r>
              <a:rPr lang="en-US" sz="3500" b="1" dirty="0"/>
              <a:t>We appreciate your time and attention.</a:t>
            </a:r>
          </a:p>
          <a:p>
            <a:r>
              <a:rPr lang="en-US" sz="3500" b="1" dirty="0"/>
              <a:t>Questions and discussions are welcome.</a:t>
            </a:r>
          </a:p>
          <a:p>
            <a:endParaRPr lang="en-IN" sz="3500" dirty="0"/>
          </a:p>
          <a:p>
            <a:endParaRPr lang="en-IN" sz="3500" dirty="0"/>
          </a:p>
        </p:txBody>
      </p:sp>
    </p:spTree>
    <p:extLst>
      <p:ext uri="{BB962C8B-B14F-4D97-AF65-F5344CB8AC3E}">
        <p14:creationId xmlns:p14="http://schemas.microsoft.com/office/powerpoint/2010/main" val="2525459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{BBF0659E-EC17-47F0-B5EB-850B8405D22C}TF37254b02-f5b5-44b0-803d-e6af9466a024d8712c6d-28d3f990fef7</Template>
  <TotalTime>294</TotalTime>
  <Words>1731</Words>
  <Application>Microsoft Office PowerPoint</Application>
  <PresentationFormat>Widescreen</PresentationFormat>
  <Paragraphs>119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MS Shell Dlg 2</vt:lpstr>
      <vt:lpstr>Wingdings</vt:lpstr>
      <vt:lpstr>Wingdings 3</vt:lpstr>
      <vt:lpstr>Madison</vt:lpstr>
      <vt:lpstr>MINOR PROJECT-II PRESENTATION ON-MENTAL STRESS DETECTION USING VOICE TONE ANALYSIS</vt:lpstr>
      <vt:lpstr>Contents:-</vt:lpstr>
      <vt:lpstr>1.PROBLEM STATEMENT</vt:lpstr>
      <vt:lpstr>2.INTRODUCTION</vt:lpstr>
      <vt:lpstr>3.TECHNOLOGY USED</vt:lpstr>
      <vt:lpstr>4.FEATURES</vt:lpstr>
      <vt:lpstr>Data Collection &amp; Pre-processing The system records live voice through the web browser using the MediaDevices API. Background noise is reduced and the audio is normalized to make the voice clear and consistent. Feature Extraction The system extracts important voice features to detect stress. MFCC is used to understand voice patterns and speech shape. Prosodic features like pitch and loudness are measured, as stress usually increases voice frequency. Voice variations such as small voice vibrations (jitter and shimmer) are analyzed, which occur due to muscle tension during stress. Model Training &amp; Classification Machine learning models like Support Vector Machine (SVM) or Random Forest are used to classify stress levels. The model is trained using standard emotional voice datasets such as RAVDESS and TESS. Real-Time Prediction The extracted voice features are sent to the trained model. The system instantly predicts stress levels and displays results as Low, Moderate, or High. </vt:lpstr>
      <vt:lpstr>6.FLOWCHART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KUMAR</dc:creator>
  <cp:lastModifiedBy>ROHIT KUMAR</cp:lastModifiedBy>
  <cp:revision>18</cp:revision>
  <dcterms:created xsi:type="dcterms:W3CDTF">2026-01-19T16:24:52Z</dcterms:created>
  <dcterms:modified xsi:type="dcterms:W3CDTF">2026-02-02T17:55:54Z</dcterms:modified>
</cp:coreProperties>
</file>